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8B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8C0EB2-6D2B-4F4A-9AAA-F4C513A37F6D}" type="datetimeFigureOut">
              <a:rPr lang="en-GB" smtClean="0"/>
              <a:t>30/10/2025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2FC04-F74A-4677-B102-C61FED6523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4996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79BFB-15AA-C90D-965F-1624DC45C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2F4FCF-BD63-32A9-1E85-21915E790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D3311-AEC2-8316-BB94-5C8BF4C5C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858F-2E4F-460A-BC79-2BA66782DCD0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BE777-9C9F-BE42-D71A-4191E37FD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0BA74-6E59-560F-40C3-504DC7F32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76A9A-A9D0-484D-839B-3C7CD7515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2225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DAADA-CFD1-CA9F-8667-613F2BF9F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59828-D11A-CE25-AA84-92B0C9CAD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934CB-3106-964F-D910-EC76E3D4B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858F-2E4F-460A-BC79-2BA66782DCD0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95FD2-5A18-A952-ACE5-387842803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66E22-19B8-326A-78D4-9729273F8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76A9A-A9D0-484D-839B-3C7CD7515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7319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2D75E-9F09-F8D1-C4B6-3D5EE4E14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CB177-D6A4-5F11-291A-67F4A1568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1E8A8-44B0-4849-ADB5-4E11BD001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858F-2E4F-460A-BC79-2BA66782DCD0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8E274-F749-417B-06D3-57543A319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69A41-A7DF-6121-D9FD-73A31DFD0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76A9A-A9D0-484D-839B-3C7CD7515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548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FA0EC-7E02-24B6-F9AE-7C6A06B9F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65D40-BFEC-9712-747E-153108CB63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136061-7011-1627-7C9B-67274E13B3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70165-2B7D-0430-4598-A04F3AF59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858F-2E4F-460A-BC79-2BA66782DCD0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71C70-F3F1-DA97-C032-04A3C53CA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313A4-2104-F52E-943A-02C27CBBA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76A9A-A9D0-484D-839B-3C7CD7515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632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45966-0FEF-9225-956A-FF907F8E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9C4D0-4935-B798-F55F-D0A2098F1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B54C48-35F8-B2AB-7FDD-3AEA6EE47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17D742-39D1-FA1A-6B39-4E488E9516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A5C811-7BFA-3252-6EE3-3651DFD27C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09BFD8-7B10-2B12-594C-9002D743E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858F-2E4F-460A-BC79-2BA66782DCD0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DB5E0F-DB48-FB0B-7C49-3E9A304E2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BB3C36-65DE-1D44-0584-DC2FE5812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76A9A-A9D0-484D-839B-3C7CD7515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0109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3D693-79B4-B605-B71D-8372CB1AD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3EDFD6-D622-2EA0-AFF0-D41A996F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858F-2E4F-460A-BC79-2BA66782DCD0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0C3BA6-D5D6-18DC-9BD1-C82D211A5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166DA2-0768-9822-EB8D-13E597A0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76A9A-A9D0-484D-839B-3C7CD7515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773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735C09-64BF-8F6E-6044-9E3A8C298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858F-2E4F-460A-BC79-2BA66782DCD0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A0762E-DDE5-B3A8-D27E-43AD6DA34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A002A-4C6D-28A0-C6CA-FE2984433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76A9A-A9D0-484D-839B-3C7CD7515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21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9D81D-982C-F439-D271-4919ACE8C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DF73B-3B70-93C8-1F6B-1A2378794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772D88-D918-CFA0-28B8-D2F971C79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869A3-73CB-76FA-765F-D9C34BA57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858F-2E4F-460A-BC79-2BA66782DCD0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7AFE7-13AC-50F8-688A-7656DD887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7CC43-3F1F-4283-DD08-5D2B6D1AD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76A9A-A9D0-484D-839B-3C7CD7515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4639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FC6C1-9FC3-AF30-39A3-E35E1A01E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2E77C0-217D-FFCB-4367-E4CA0462C8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46D3F0-5BAF-EA19-942E-D2A89A0366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42485-5FDE-EC2C-1C24-BCF1EBC51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858F-2E4F-460A-BC79-2BA66782DCD0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E8BAF-D6AD-87D1-DA69-0864294D1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5FD1C-A54C-7A8A-A19B-B51E28289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76A9A-A9D0-484D-839B-3C7CD7515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4264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BF68C-AAF6-15F4-AC68-214B0277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5D8539-A63C-9263-2930-1DF4F00C5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B29A4-5AD3-71A3-FA5C-6884559F7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858F-2E4F-460A-BC79-2BA66782DCD0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BB578-F071-50A8-8B32-D2651389E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8655F-0EC7-E36D-8194-58EF5E1B2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76A9A-A9D0-484D-839B-3C7CD7515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2717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DA21F7-4C87-84BA-CF6E-F2CB0D7E39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2E9A1D-7064-2816-C68C-013F806E5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D116D-C396-8566-621D-694018667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3858F-2E4F-460A-BC79-2BA66782DCD0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5941-2EBE-2FE9-EBC7-5623A0433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03FEC-F217-6D49-CC03-56919724F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76A9A-A9D0-484D-839B-3C7CD7515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657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64C2E-EA12-318B-0896-837BD0156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4EEFD-BA28-BB17-C510-FC8920BA1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2C714-A6C0-78A1-7CFA-D98A3F477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93858F-2E4F-460A-BC79-2BA66782DCD0}" type="datetimeFigureOut">
              <a:rPr lang="en-GB" smtClean="0"/>
              <a:t>28/10/2025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87E09-A81B-2AE2-E00F-C43153695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0F0AC-04CC-A1C0-F3B0-CF0ADC49A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E76A9A-A9D0-484D-839B-3C7CD7515F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0824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AE679EB-4500-7722-4FF6-40C8E6F5D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040" y="5799"/>
            <a:ext cx="9973920" cy="68464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C0B2CB-01C0-70B6-691C-4113505FC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8328"/>
            <a:ext cx="9144000" cy="1711833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Stock Market 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Investment Analysis </a:t>
            </a:r>
            <a:endParaRPr lang="en-GB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1E0B8E-6C4B-1D45-18F2-FCBD8B3C20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57984"/>
            <a:ext cx="9144000" cy="4198366"/>
          </a:xfrm>
        </p:spPr>
        <p:txBody>
          <a:bodyPr/>
          <a:lstStyle/>
          <a:p>
            <a:r>
              <a:rPr lang="en-US" sz="4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Data Analytics Internship Project Presentation </a:t>
            </a:r>
          </a:p>
          <a:p>
            <a:r>
              <a:rPr lang="en-US" sz="4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Thrive Africa Data Science and Analytics Interns </a:t>
            </a:r>
          </a:p>
          <a:p>
            <a:endParaRPr lang="en-US" sz="40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Nine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4FB36-78AF-C920-4EFE-6CCEE9BD0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FC1D-8425-4414-9B47-8D12A17F2E11}" type="datetime1">
              <a:rPr lang="en-GB" smtClean="0"/>
              <a:t>30/10/2025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325E5-A222-D735-D458-70F5D6C0F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Group 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D51A9-EDC3-C057-3704-9849E00FE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76A9A-A9D0-484D-839B-3C7CD7515FE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5771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2A545D-AF4E-C47B-C5D1-3D17E3784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040" y="5799"/>
            <a:ext cx="9973920" cy="68464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78AFEE-848C-7D9D-940A-6081415EF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016" y="182245"/>
            <a:ext cx="4904232" cy="47612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 </a:t>
            </a:r>
            <a:endParaRPr lang="en-GB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B6956-1EB4-18EA-D4AD-A4F79D1D7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60648" y="658368"/>
            <a:ext cx="5181600" cy="6135624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GB" sz="2000" kern="1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GB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 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GB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 of The Dataset 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GB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GB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tasks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GB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Methodology(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Processing </a:t>
            </a:r>
            <a:r>
              <a:rPr lang="en-GB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GB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GB" sz="1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GB" sz="1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Highlights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GB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of Insights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GB" sz="1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GB" sz="1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GB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 / Thank You</a:t>
            </a:r>
            <a:endParaRPr lang="en-US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268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FAD97AC-436B-C1E3-21DF-C46932743C1B}"/>
              </a:ext>
            </a:extLst>
          </p:cNvPr>
          <p:cNvSpPr/>
          <p:nvPr/>
        </p:nvSpPr>
        <p:spPr>
          <a:xfrm>
            <a:off x="2051633" y="45984"/>
            <a:ext cx="9939528" cy="6812016"/>
          </a:xfrm>
          <a:prstGeom prst="roundRect">
            <a:avLst>
              <a:gd name="adj" fmla="val 2103"/>
            </a:avLst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Bef>
                <a:spcPct val="0"/>
              </a:spcBef>
            </a:pPr>
            <a:endParaRPr lang="en-US" sz="5400" b="1" dirty="0"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33E2D3-FF85-56BC-6B97-96EEA764488B}"/>
              </a:ext>
            </a:extLst>
          </p:cNvPr>
          <p:cNvSpPr/>
          <p:nvPr/>
        </p:nvSpPr>
        <p:spPr>
          <a:xfrm>
            <a:off x="113875" y="710747"/>
            <a:ext cx="1916093" cy="4234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pPr algn="ctr">
              <a:spcBef>
                <a:spcPct val="0"/>
              </a:spcBef>
            </a:pPr>
            <a:endParaRPr lang="en-US" sz="5400" b="1"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970DD4-D780-5577-81D0-08ADB9B80C7A}"/>
              </a:ext>
            </a:extLst>
          </p:cNvPr>
          <p:cNvSpPr txBox="1"/>
          <p:nvPr/>
        </p:nvSpPr>
        <p:spPr>
          <a:xfrm>
            <a:off x="550263" y="883604"/>
            <a:ext cx="1598577" cy="4084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accent2"/>
                </a:solidFill>
                <a:latin typeface="Tim."/>
              </a:rPr>
              <a:t>Introduction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2CDD99-2535-BEBD-09AD-D1E38B913F76}"/>
              </a:ext>
            </a:extLst>
          </p:cNvPr>
          <p:cNvSpPr txBox="1"/>
          <p:nvPr/>
        </p:nvSpPr>
        <p:spPr>
          <a:xfrm>
            <a:off x="113875" y="214322"/>
            <a:ext cx="17308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D576CD-2DDD-3A92-8F06-4B5F9DF012E7}"/>
              </a:ext>
            </a:extLst>
          </p:cNvPr>
          <p:cNvSpPr txBox="1"/>
          <p:nvPr/>
        </p:nvSpPr>
        <p:spPr>
          <a:xfrm>
            <a:off x="2247034" y="223017"/>
            <a:ext cx="2191305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b="1">
                <a:latin typeface="Tim.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dirty="0">
                <a:solidFill>
                  <a:schemeClr val="accent2"/>
                </a:solidFill>
              </a:rPr>
              <a:t>Project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03D9E8-BA0F-5374-CAA6-BA010C2996C0}"/>
              </a:ext>
            </a:extLst>
          </p:cNvPr>
          <p:cNvSpPr txBox="1"/>
          <p:nvPr/>
        </p:nvSpPr>
        <p:spPr>
          <a:xfrm>
            <a:off x="2247034" y="777240"/>
            <a:ext cx="954872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report provides insights derived from the Stock Market dashboard. It summarizes trading performance, market volume trends, volatility, and day-by-day behavior to support data-driven investment and market analysis decisions.</a:t>
            </a:r>
          </a:p>
          <a:p>
            <a:pPr algn="just"/>
            <a:r>
              <a:rPr lang="en-US" sz="1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High-quality financial data is often proprietary and costly to obtain, which limits open access for researchers, analysts, and students. This dataset provides a comprehensive historical record of U.S. stock and ETF performance, covering the NYSE, NASDAQ, and NYSE MKT exchanges. It contains daily price and volume data for thousands of U.S.-based securities, making it an excellent foundation for studying market trends, volatility patterns, and price forecasting.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E4C9A3-D386-FDDE-C24C-EF92576D648D}"/>
              </a:ext>
            </a:extLst>
          </p:cNvPr>
          <p:cNvSpPr txBox="1"/>
          <p:nvPr/>
        </p:nvSpPr>
        <p:spPr>
          <a:xfrm>
            <a:off x="2247033" y="3082660"/>
            <a:ext cx="4665831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b="1">
                <a:latin typeface="Tim.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dirty="0">
                <a:solidFill>
                  <a:schemeClr val="accent2"/>
                </a:solidFill>
              </a:rPr>
              <a:t>Problem statements &amp; analytic questions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807BFB-1764-067C-AC86-1570760E5DC3}"/>
              </a:ext>
            </a:extLst>
          </p:cNvPr>
          <p:cNvSpPr txBox="1"/>
          <p:nvPr/>
        </p:nvSpPr>
        <p:spPr>
          <a:xfrm>
            <a:off x="2247033" y="3837289"/>
            <a:ext cx="9548726" cy="189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periods of high volatility and quantify risk over time.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trends (uptrends / downtrends / sideways) and turning points.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intraday performance vs. daily close (gaps, momentum).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 the relationship between price movement and trading volume.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 technical indicators to support trading/strategy signals. </a:t>
            </a:r>
          </a:p>
        </p:txBody>
      </p:sp>
    </p:spTree>
    <p:extLst>
      <p:ext uri="{BB962C8B-B14F-4D97-AF65-F5344CB8AC3E}">
        <p14:creationId xmlns:p14="http://schemas.microsoft.com/office/powerpoint/2010/main" val="4186006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C20BB-EB6A-F0A1-A79C-271ED6C90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CE6E277-4A2A-CB76-3277-4B979FFA9A8B}"/>
              </a:ext>
            </a:extLst>
          </p:cNvPr>
          <p:cNvSpPr/>
          <p:nvPr/>
        </p:nvSpPr>
        <p:spPr>
          <a:xfrm>
            <a:off x="2051633" y="45984"/>
            <a:ext cx="9939528" cy="6812016"/>
          </a:xfrm>
          <a:prstGeom prst="roundRect">
            <a:avLst>
              <a:gd name="adj" fmla="val 2103"/>
            </a:avLst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accent2"/>
              </a:solidFill>
              <a:latin typeface="Tim.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A0F6B4-C6A3-1417-6273-55E93290C49C}"/>
              </a:ext>
            </a:extLst>
          </p:cNvPr>
          <p:cNvSpPr/>
          <p:nvPr/>
        </p:nvSpPr>
        <p:spPr>
          <a:xfrm>
            <a:off x="113875" y="710747"/>
            <a:ext cx="1916093" cy="4234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pPr algn="ctr">
              <a:spcBef>
                <a:spcPct val="0"/>
              </a:spcBef>
            </a:pPr>
            <a:endParaRPr lang="en-US" sz="5400" b="1"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334C35-819E-2A1A-FC7A-FCCEB8A79CD7}"/>
              </a:ext>
            </a:extLst>
          </p:cNvPr>
          <p:cNvSpPr txBox="1"/>
          <p:nvPr/>
        </p:nvSpPr>
        <p:spPr>
          <a:xfrm>
            <a:off x="411481" y="821871"/>
            <a:ext cx="1732084" cy="4084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accent2"/>
                </a:solidFill>
                <a:latin typeface="Tim."/>
              </a:rPr>
              <a:t>Data </a:t>
            </a:r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r>
              <a:rPr lang="en-US" b="1" dirty="0">
                <a:solidFill>
                  <a:schemeClr val="accent2"/>
                </a:solidFill>
                <a:latin typeface="Tim."/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E46AA7-3BD6-2755-0B5A-54641D0D305A}"/>
              </a:ext>
            </a:extLst>
          </p:cNvPr>
          <p:cNvSpPr txBox="1"/>
          <p:nvPr/>
        </p:nvSpPr>
        <p:spPr>
          <a:xfrm>
            <a:off x="113875" y="214322"/>
            <a:ext cx="17308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Nine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677ADF-088A-9207-00A2-5A8B983DBBF3}"/>
              </a:ext>
            </a:extLst>
          </p:cNvPr>
          <p:cNvSpPr txBox="1"/>
          <p:nvPr/>
        </p:nvSpPr>
        <p:spPr>
          <a:xfrm>
            <a:off x="2143564" y="249262"/>
            <a:ext cx="526019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b="1">
                <a:latin typeface="Tim.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Tasks &amp;Key Market Metrics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4946BC9-016D-C581-3A84-EE10E1246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162354"/>
              </p:ext>
            </p:extLst>
          </p:nvPr>
        </p:nvGraphicFramePr>
        <p:xfrm>
          <a:off x="2461079" y="710747"/>
          <a:ext cx="9185934" cy="3567388"/>
        </p:xfrm>
        <a:graphic>
          <a:graphicData uri="http://schemas.openxmlformats.org/drawingml/2006/table">
            <a:tbl>
              <a:tblPr/>
              <a:tblGrid>
                <a:gridCol w="3061978">
                  <a:extLst>
                    <a:ext uri="{9D8B030D-6E8A-4147-A177-3AD203B41FA5}">
                      <a16:colId xmlns:a16="http://schemas.microsoft.com/office/drawing/2014/main" val="1042692996"/>
                    </a:ext>
                  </a:extLst>
                </a:gridCol>
                <a:gridCol w="3061978">
                  <a:extLst>
                    <a:ext uri="{9D8B030D-6E8A-4147-A177-3AD203B41FA5}">
                      <a16:colId xmlns:a16="http://schemas.microsoft.com/office/drawing/2014/main" val="2576242825"/>
                    </a:ext>
                  </a:extLst>
                </a:gridCol>
                <a:gridCol w="3061978">
                  <a:extLst>
                    <a:ext uri="{9D8B030D-6E8A-4147-A177-3AD203B41FA5}">
                      <a16:colId xmlns:a16="http://schemas.microsoft.com/office/drawing/2014/main" val="3749003071"/>
                    </a:ext>
                  </a:extLst>
                </a:gridCol>
              </a:tblGrid>
              <a:tr h="1976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Insight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43787"/>
                  </a:ext>
                </a:extLst>
              </a:tr>
              <a:tr h="493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Volume</a:t>
                      </a:r>
                      <a:endParaRPr lang="en-GB" sz="12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28T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Reflects overall liquidity and market activity — trading levels are high.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7004385"/>
                  </a:ext>
                </a:extLst>
              </a:tr>
              <a:tr h="34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 Value</a:t>
                      </a:r>
                      <a:endParaRPr lang="en-GB" sz="120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2bn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Indicates the highest single trade or instrument value recorded.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147840"/>
                  </a:ext>
                </a:extLst>
              </a:tr>
              <a:tr h="34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Distinct Count (Transactions)</a:t>
                      </a:r>
                      <a:endParaRPr lang="en-GB" sz="120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17M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Suggests high participation and broad trading engagement.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884557"/>
                  </a:ext>
                </a:extLst>
              </a:tr>
              <a:tr h="493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LDSS % (Low Daily Shares Sold %)</a:t>
                      </a:r>
                      <a:endParaRPr lang="en-GB" sz="12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1.6%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Represents the portion of sessions ending with a loss; volatility remains moderate.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530276"/>
                  </a:ext>
                </a:extLst>
              </a:tr>
              <a:tr h="493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HDSS % (High Daily Shares Sold %)</a:t>
                      </a:r>
                      <a:endParaRPr lang="en-GB" sz="12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1.7%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Reflects sessions with strong positive performance; nearly balanced with losses.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3019722"/>
                  </a:ext>
                </a:extLst>
              </a:tr>
              <a:tr h="493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Open</a:t>
                      </a:r>
                      <a:endParaRPr lang="en-GB" sz="120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458.13bn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the total outstanding positions currently open in the market.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8724786"/>
                  </a:ext>
                </a:extLst>
              </a:tr>
              <a:tr h="4938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Month-on-Month (MoM) Change</a:t>
                      </a:r>
                      <a:endParaRPr lang="en-GB" sz="120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-58.0%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Indicates a sharp decline in monthly volume, possibly signaling cooling investor interest.</a:t>
                      </a:r>
                    </a:p>
                  </a:txBody>
                  <a:tcPr marL="61286" marR="61286" marT="30643" marB="306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586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5594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5283E-4044-4069-3008-3857F145E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C9A71C2-9894-DDB5-B177-0A21D9237CA9}"/>
              </a:ext>
            </a:extLst>
          </p:cNvPr>
          <p:cNvSpPr/>
          <p:nvPr/>
        </p:nvSpPr>
        <p:spPr>
          <a:xfrm>
            <a:off x="2051633" y="45984"/>
            <a:ext cx="9939528" cy="6812016"/>
          </a:xfrm>
          <a:prstGeom prst="roundRect">
            <a:avLst>
              <a:gd name="adj" fmla="val 2103"/>
            </a:avLst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accent2"/>
              </a:solidFill>
              <a:latin typeface="Tim.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CD2B79-5B85-1A34-719A-162B091545E9}"/>
              </a:ext>
            </a:extLst>
          </p:cNvPr>
          <p:cNvSpPr/>
          <p:nvPr/>
        </p:nvSpPr>
        <p:spPr>
          <a:xfrm>
            <a:off x="113875" y="710747"/>
            <a:ext cx="1916093" cy="4234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pPr algn="ctr">
              <a:spcBef>
                <a:spcPct val="0"/>
              </a:spcBef>
            </a:pPr>
            <a:endParaRPr lang="en-US" sz="5400" b="1"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4A2F6F-6CBD-E587-BFD8-8C6411BF3018}"/>
              </a:ext>
            </a:extLst>
          </p:cNvPr>
          <p:cNvSpPr txBox="1"/>
          <p:nvPr/>
        </p:nvSpPr>
        <p:spPr>
          <a:xfrm>
            <a:off x="544987" y="821871"/>
            <a:ext cx="1598577" cy="4084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BF0B44-E1E5-3F1F-6B38-59DD2E20E0B5}"/>
              </a:ext>
            </a:extLst>
          </p:cNvPr>
          <p:cNvSpPr txBox="1"/>
          <p:nvPr/>
        </p:nvSpPr>
        <p:spPr>
          <a:xfrm>
            <a:off x="113875" y="214322"/>
            <a:ext cx="17308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Nine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E9D6F9-BBBB-EAD4-31FE-7F38E5BA6F41}"/>
              </a:ext>
            </a:extLst>
          </p:cNvPr>
          <p:cNvSpPr txBox="1"/>
          <p:nvPr/>
        </p:nvSpPr>
        <p:spPr>
          <a:xfrm>
            <a:off x="2323071" y="243597"/>
            <a:ext cx="8362594" cy="568041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defRPr sz="1400" b="0" kern="1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lvl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defRPr sz="1400" kern="1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r>
              <a:rPr lang="en-US" dirty="0"/>
              <a:t>To ensure accuracy and reliability in the analysis, the following data cleaning and preprocessing steps were performed after Data Collection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2C33DB-94B8-8910-A46B-22D137F21EB1}"/>
              </a:ext>
            </a:extLst>
          </p:cNvPr>
          <p:cNvSpPr txBox="1"/>
          <p:nvPr/>
        </p:nvSpPr>
        <p:spPr>
          <a:xfrm>
            <a:off x="2323071" y="1230302"/>
            <a:ext cx="8362594" cy="1598771"/>
          </a:xfrm>
          <a:prstGeom prst="rect">
            <a:avLst/>
          </a:prstGeom>
          <a:noFill/>
          <a:ln w="28575">
            <a:solidFill>
              <a:sysClr val="window" lastClr="FFFFFF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defRPr sz="1400" b="0" kern="1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lvl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defRPr sz="1400" kern="1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marL="171450" marR="0" lvl="1" indent="-171450" defTabSz="914400" eaLnBrk="1" fontAlgn="auto" latinLnBrk="0" hangingPunct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 : </a:t>
            </a:r>
            <a:r>
              <a:rPr kumimoji="0" lang="en-US" sz="12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Checked for missing values in key columns </a:t>
            </a:r>
          </a:p>
          <a:p>
            <a:pPr marL="171450" marR="0" lvl="1" indent="-171450" defTabSz="914400" eaLnBrk="1" fontAlgn="auto" latinLnBrk="0" hangingPunct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Removing Duplicates : </a:t>
            </a:r>
            <a:r>
              <a:rPr kumimoji="0" lang="en-US" sz="12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Checked for duplicate entries using Startup Name, Industry, Funding Round, and Investment Amount.</a:t>
            </a:r>
          </a:p>
          <a:p>
            <a:pPr marL="171450" marR="0" lvl="1" indent="-171450" defTabSz="914400" eaLnBrk="1" fontAlgn="auto" latinLnBrk="0" hangingPunct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Standardizing Currency Formats : </a:t>
            </a:r>
            <a:r>
              <a:rPr kumimoji="0" lang="en-US" sz="12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Ensured Investment Amount and Valuation were in consistent USD format (some datasets use different currency formats).</a:t>
            </a:r>
          </a:p>
          <a:p>
            <a:pPr marL="171450" marR="0" lvl="1" indent="-171450" defTabSz="914400" eaLnBrk="1" fontAlgn="auto" latinLnBrk="0" hangingPunct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Formatting Date Columns : </a:t>
            </a:r>
            <a:r>
              <a:rPr kumimoji="0" lang="en-US" sz="12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Converted Year Founded into a proper date format for trend analysis.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6C381D-762B-433C-4E53-DA6E470190AE}"/>
              </a:ext>
            </a:extLst>
          </p:cNvPr>
          <p:cNvSpPr/>
          <p:nvPr/>
        </p:nvSpPr>
        <p:spPr>
          <a:xfrm>
            <a:off x="2323071" y="3632289"/>
            <a:ext cx="1828813" cy="67951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Bierstadt"/>
                <a:ea typeface="+mn-ea"/>
                <a:cs typeface="+mn-cs"/>
              </a:rPr>
              <a:t>Data Extraction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C965149-3E9F-DCA6-7F6F-D166BB53245E}"/>
              </a:ext>
            </a:extLst>
          </p:cNvPr>
          <p:cNvSpPr/>
          <p:nvPr/>
        </p:nvSpPr>
        <p:spPr>
          <a:xfrm>
            <a:off x="4567923" y="3689171"/>
            <a:ext cx="1925892" cy="67951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r>
              <a:rPr lang="en-US" b="1" kern="0" dirty="0">
                <a:solidFill>
                  <a:schemeClr val="accent2"/>
                </a:solidFill>
                <a:latin typeface="Bierstadt"/>
              </a:rPr>
              <a:t>Data Cleaning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E2C3C72-425F-3F0B-6196-EF12694795FF}"/>
              </a:ext>
            </a:extLst>
          </p:cNvPr>
          <p:cNvSpPr/>
          <p:nvPr/>
        </p:nvSpPr>
        <p:spPr>
          <a:xfrm>
            <a:off x="7252344" y="3689171"/>
            <a:ext cx="1990297" cy="67951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/>
            <a:r>
              <a:rPr lang="en-US" b="1" kern="0" dirty="0">
                <a:solidFill>
                  <a:schemeClr val="accent2"/>
                </a:solidFill>
                <a:latin typeface="Bierstadt"/>
              </a:rPr>
              <a:t>Data Transformation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C27212-A2D6-3873-AF56-F11CB1585E2D}"/>
              </a:ext>
            </a:extLst>
          </p:cNvPr>
          <p:cNvSpPr/>
          <p:nvPr/>
        </p:nvSpPr>
        <p:spPr>
          <a:xfrm>
            <a:off x="10043414" y="3705945"/>
            <a:ext cx="1717288" cy="67951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r>
              <a:rPr lang="en-US" b="1" kern="0">
                <a:solidFill>
                  <a:schemeClr val="accent2"/>
                </a:solidFill>
                <a:latin typeface="Bierstadt"/>
              </a:rPr>
              <a:t>Clean </a:t>
            </a:r>
            <a:r>
              <a:rPr lang="en-US" b="1" kern="0" dirty="0">
                <a:solidFill>
                  <a:schemeClr val="accent2"/>
                </a:solidFill>
                <a:latin typeface="Bierstadt"/>
              </a:rPr>
              <a:t>Data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AFA8C98-0790-5BB8-06DF-76E9DA741246}"/>
              </a:ext>
            </a:extLst>
          </p:cNvPr>
          <p:cNvSpPr/>
          <p:nvPr/>
        </p:nvSpPr>
        <p:spPr>
          <a:xfrm>
            <a:off x="3172968" y="4953421"/>
            <a:ext cx="2204773" cy="67951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r>
              <a:rPr lang="en-US" b="1" kern="0" dirty="0">
                <a:solidFill>
                  <a:schemeClr val="accent2"/>
                </a:solidFill>
                <a:latin typeface="Bierstadt"/>
              </a:rPr>
              <a:t>Handling Missing Values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D444175-EC05-238D-B5C7-F1E9C0AC0870}"/>
              </a:ext>
            </a:extLst>
          </p:cNvPr>
          <p:cNvSpPr/>
          <p:nvPr/>
        </p:nvSpPr>
        <p:spPr>
          <a:xfrm>
            <a:off x="5681408" y="4940536"/>
            <a:ext cx="2862454" cy="66668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r>
              <a:rPr lang="en-US" b="1" kern="0">
                <a:solidFill>
                  <a:schemeClr val="accent2"/>
                </a:solidFill>
                <a:latin typeface="Bierstadt"/>
              </a:rPr>
              <a:t>Removing </a:t>
            </a:r>
            <a:r>
              <a:rPr lang="en-US" b="1" kern="0" dirty="0">
                <a:solidFill>
                  <a:schemeClr val="accent2"/>
                </a:solidFill>
                <a:latin typeface="Bierstadt"/>
              </a:rPr>
              <a:t>Duplicates &amp;</a:t>
            </a:r>
          </a:p>
          <a:p>
            <a:r>
              <a:rPr lang="en-US" b="1" kern="0">
                <a:solidFill>
                  <a:schemeClr val="accent2"/>
                </a:solidFill>
                <a:latin typeface="Bierstadt"/>
              </a:rPr>
              <a:t>Empty cells</a:t>
            </a:r>
            <a:endParaRPr lang="en-US" b="1" kern="0" dirty="0">
              <a:solidFill>
                <a:schemeClr val="accent2"/>
              </a:solidFill>
              <a:latin typeface="Bierstadt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69101F7-3E0C-2278-C24F-4CDB00916C9D}"/>
              </a:ext>
            </a:extLst>
          </p:cNvPr>
          <p:cNvCxnSpPr>
            <a:cxnSpLocks/>
          </p:cNvCxnSpPr>
          <p:nvPr/>
        </p:nvCxnSpPr>
        <p:spPr>
          <a:xfrm>
            <a:off x="4749075" y="4368684"/>
            <a:ext cx="0" cy="571852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72C3EEA-66F6-BC88-5413-B5CA880A3BE8}"/>
              </a:ext>
            </a:extLst>
          </p:cNvPr>
          <p:cNvCxnSpPr>
            <a:cxnSpLocks/>
          </p:cNvCxnSpPr>
          <p:nvPr/>
        </p:nvCxnSpPr>
        <p:spPr>
          <a:xfrm>
            <a:off x="6352918" y="4368684"/>
            <a:ext cx="0" cy="571852"/>
          </a:xfrm>
          <a:prstGeom prst="straightConnector1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308151F-0763-EAE8-43AC-FE3D7F7402D9}"/>
              </a:ext>
            </a:extLst>
          </p:cNvPr>
          <p:cNvSpPr/>
          <p:nvPr/>
        </p:nvSpPr>
        <p:spPr>
          <a:xfrm>
            <a:off x="4178030" y="4009160"/>
            <a:ext cx="347511" cy="45719"/>
          </a:xfrm>
          <a:prstGeom prst="rightArrow">
            <a:avLst/>
          </a:prstGeom>
          <a:solidFill>
            <a:srgbClr val="000000"/>
          </a:solidFill>
          <a:ln w="12700" cap="flat" cmpd="sng" algn="ctr">
            <a:solidFill>
              <a:srgbClr val="000000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C12A9635-AE4C-01B7-B9E8-8AE3D6B63801}"/>
              </a:ext>
            </a:extLst>
          </p:cNvPr>
          <p:cNvSpPr/>
          <p:nvPr/>
        </p:nvSpPr>
        <p:spPr>
          <a:xfrm>
            <a:off x="6558222" y="4054879"/>
            <a:ext cx="629717" cy="45719"/>
          </a:xfrm>
          <a:prstGeom prst="rightArrow">
            <a:avLst/>
          </a:prstGeom>
          <a:solidFill>
            <a:srgbClr val="000000"/>
          </a:solidFill>
          <a:ln w="12700" cap="flat" cmpd="sng" algn="ctr">
            <a:solidFill>
              <a:srgbClr val="000000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5D1AC271-F113-45A4-E3AE-9A249C9C81D2}"/>
              </a:ext>
            </a:extLst>
          </p:cNvPr>
          <p:cNvSpPr/>
          <p:nvPr/>
        </p:nvSpPr>
        <p:spPr>
          <a:xfrm>
            <a:off x="9242642" y="4045701"/>
            <a:ext cx="800772" cy="45719"/>
          </a:xfrm>
          <a:prstGeom prst="rightArrow">
            <a:avLst/>
          </a:prstGeom>
          <a:solidFill>
            <a:srgbClr val="000000"/>
          </a:solidFill>
          <a:ln w="12700" cap="flat" cmpd="sng" algn="ctr">
            <a:solidFill>
              <a:srgbClr val="000000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8516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733B7-B8E7-6C6A-8AA9-F08901060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768BA7D-DCDE-1C72-EBC8-E97BF7E52D52}"/>
              </a:ext>
            </a:extLst>
          </p:cNvPr>
          <p:cNvSpPr/>
          <p:nvPr/>
        </p:nvSpPr>
        <p:spPr>
          <a:xfrm>
            <a:off x="2259558" y="45984"/>
            <a:ext cx="9754254" cy="6812016"/>
          </a:xfrm>
          <a:prstGeom prst="roundRect">
            <a:avLst>
              <a:gd name="adj" fmla="val 2103"/>
            </a:avLst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accent2"/>
              </a:solidFill>
              <a:latin typeface="Tim.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4155D6-538B-3BAC-20D8-20CF2CC60606}"/>
              </a:ext>
            </a:extLst>
          </p:cNvPr>
          <p:cNvSpPr/>
          <p:nvPr/>
        </p:nvSpPr>
        <p:spPr>
          <a:xfrm>
            <a:off x="113875" y="710747"/>
            <a:ext cx="1916093" cy="4234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pPr algn="ctr">
              <a:spcBef>
                <a:spcPct val="0"/>
              </a:spcBef>
            </a:pPr>
            <a:endParaRPr lang="en-US" sz="5400" b="1"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76CE6-D3C2-8C71-975F-E20B1CF68531}"/>
              </a:ext>
            </a:extLst>
          </p:cNvPr>
          <p:cNvSpPr txBox="1"/>
          <p:nvPr/>
        </p:nvSpPr>
        <p:spPr>
          <a:xfrm>
            <a:off x="178188" y="862400"/>
            <a:ext cx="2125061" cy="4234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1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FFAC03-654F-5DCB-8C3B-92EF175341E4}"/>
              </a:ext>
            </a:extLst>
          </p:cNvPr>
          <p:cNvSpPr txBox="1"/>
          <p:nvPr/>
        </p:nvSpPr>
        <p:spPr>
          <a:xfrm>
            <a:off x="113875" y="214322"/>
            <a:ext cx="17308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Nine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5E0FF8-2F0B-D45D-B0F5-F896BF1079C2}"/>
              </a:ext>
            </a:extLst>
          </p:cNvPr>
          <p:cNvSpPr txBox="1"/>
          <p:nvPr/>
        </p:nvSpPr>
        <p:spPr>
          <a:xfrm>
            <a:off x="2374678" y="3881172"/>
            <a:ext cx="4745737" cy="291791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defRPr sz="1400" b="0" kern="1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lvl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defRPr sz="1400" kern="1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2️⃣ </a:t>
            </a:r>
            <a:r>
              <a:rPr lang="en-US" dirty="0">
                <a:solidFill>
                  <a:schemeClr val="accent2"/>
                </a:solidFill>
              </a:rPr>
              <a:t>Volume Trends (Line Chart: “Total Volume by Year”)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</a:rPr>
              <a:t>The chart shows a steady increase in trading volume from the 1980s to around 2010, where it peaks at about 2T.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</a:rPr>
              <a:t>After that, volumes decline slightly but remain high, suggesting a cooling off or stabilization phase.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</a:rPr>
              <a:t>📊 Insight:</a:t>
            </a:r>
          </a:p>
          <a:p>
            <a:r>
              <a:rPr lang="en-US" dirty="0">
                <a:solidFill>
                  <a:schemeClr val="accent2"/>
                </a:solidFill>
              </a:rPr>
              <a:t>Market participation grew dramatically until 2010 — possibly due to digital trading or economic growth — then normalized in the following decade.</a:t>
            </a:r>
            <a:endParaRPr lang="en-GB" dirty="0">
              <a:solidFill>
                <a:schemeClr val="accent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F48A67-47CF-B67F-4539-301A9E6F35EC}"/>
              </a:ext>
            </a:extLst>
          </p:cNvPr>
          <p:cNvSpPr txBox="1"/>
          <p:nvPr/>
        </p:nvSpPr>
        <p:spPr>
          <a:xfrm>
            <a:off x="2390949" y="141584"/>
            <a:ext cx="4745736" cy="2262158"/>
          </a:xfrm>
          <a:prstGeom prst="rect">
            <a:avLst/>
          </a:prstGeom>
          <a:noFill/>
          <a:ln w="28575">
            <a:solidFill>
              <a:sysClr val="window" lastClr="FFFFFF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defRPr sz="1400" b="0" kern="1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lvl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defRPr sz="1400" kern="1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marL="171450" marR="0" lvl="1" indent="-171450" defTabSz="91440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1️⃣ Overall Market Activity</a:t>
            </a:r>
          </a:p>
          <a:p>
            <a:pPr marL="171450" marR="0" lvl="1" indent="-171450" defTabSz="91440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Total Volume: 28T Total </a:t>
            </a:r>
          </a:p>
          <a:p>
            <a:pPr marL="171450" marR="0" lvl="1" indent="-171450" defTabSz="91440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Open: 458.13 bn</a:t>
            </a:r>
          </a:p>
          <a:p>
            <a:pPr marL="171450" marR="0" lvl="1" indent="-171450" defTabSz="91440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Max Value: 2 bn</a:t>
            </a:r>
          </a:p>
          <a:p>
            <a:pPr marL="171450" marR="0" lvl="1" indent="-171450" defTabSz="91440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These values show the scale of trading activity  very high transaction volumes, which means the market is liquid and active.</a:t>
            </a:r>
          </a:p>
          <a:p>
            <a:pPr marL="171450" marR="0" lvl="1" indent="-171450" defTabSz="91440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📊 Insight:</a:t>
            </a:r>
          </a:p>
          <a:p>
            <a:pPr marR="0" lvl="1" defTabSz="91440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tabLst/>
              <a:defRPr/>
            </a:pPr>
            <a:r>
              <a:rPr kumimoji="0" lang="en-US" sz="900" b="0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market is healthy in terms of liquidity, but the next panels show that performance (gains/losses) fluctuates significantly across years.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C1601B3-DC3E-FF90-8963-41C5F15A8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944" y="3881172"/>
            <a:ext cx="4745736" cy="290989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DCD053C-55F7-D155-8DA2-5B8A69C7FD29}"/>
              </a:ext>
            </a:extLst>
          </p:cNvPr>
          <p:cNvSpPr txBox="1"/>
          <p:nvPr/>
        </p:nvSpPr>
        <p:spPr>
          <a:xfrm>
            <a:off x="7232944" y="141584"/>
            <a:ext cx="4351220" cy="2277098"/>
          </a:xfrm>
          <a:prstGeom prst="rect">
            <a:avLst/>
          </a:prstGeom>
          <a:noFill/>
          <a:ln w="28575">
            <a:solidFill>
              <a:sysClr val="window" lastClr="FFFFFF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defRPr sz="1400" b="0" kern="1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lvl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defRPr sz="1400" kern="1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marL="171450" lvl="1" indent="-171450">
              <a:buFont typeface="Arial" panose="020B0604020202020204" pitchFamily="34" charset="0"/>
              <a:buChar char="•"/>
              <a:defRPr/>
            </a:pPr>
            <a:r>
              <a:rPr kumimoji="0" lang="en-US" sz="900" b="0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6️⃣ Key KPI Panel at the Top</a:t>
            </a:r>
          </a:p>
          <a:p>
            <a:pPr marL="171450" lvl="1" indent="-171450">
              <a:buFont typeface="Arial" panose="020B0604020202020204" pitchFamily="34" charset="0"/>
              <a:buChar char="•"/>
              <a:defRPr/>
            </a:pPr>
            <a:r>
              <a:rPr kumimoji="0" lang="en-US" sz="900" b="0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LDSS % = 1.6 %</a:t>
            </a:r>
          </a:p>
          <a:p>
            <a:pPr marL="171450" lvl="1" indent="-171450">
              <a:buFont typeface="Arial" panose="020B0604020202020204" pitchFamily="34" charset="0"/>
              <a:buChar char="•"/>
              <a:defRPr/>
            </a:pPr>
            <a:r>
              <a:rPr kumimoji="0" lang="en-US" sz="900" b="0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HDSS % = 1.7 %</a:t>
            </a:r>
          </a:p>
          <a:p>
            <a:pPr marL="171450" lvl="1" indent="-171450">
              <a:buFont typeface="Arial" panose="020B0604020202020204" pitchFamily="34" charset="0"/>
              <a:buChar char="•"/>
              <a:defRPr/>
            </a:pPr>
            <a:r>
              <a:rPr kumimoji="0" lang="en-US" sz="900" b="0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MoM Change % = −58.0 % </a:t>
            </a:r>
          </a:p>
          <a:p>
            <a:pPr lvl="1">
              <a:defRPr/>
            </a:pPr>
            <a:r>
              <a:rPr kumimoji="0" lang="en-US" sz="900" b="0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Volume sales for the latest month dropped 58 % compared to the previous month.</a:t>
            </a:r>
          </a:p>
          <a:p>
            <a:pPr marL="171450" lvl="1" indent="-171450">
              <a:buFont typeface="Arial" panose="020B0604020202020204" pitchFamily="34" charset="0"/>
              <a:buChar char="•"/>
              <a:defRPr/>
            </a:pPr>
            <a:r>
              <a:rPr kumimoji="0" lang="en-US" sz="900" b="0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📊 Insight:</a:t>
            </a:r>
          </a:p>
          <a:p>
            <a:pPr lvl="1">
              <a:defRPr/>
            </a:pPr>
            <a:r>
              <a:rPr kumimoji="0" lang="en-US" sz="900" b="0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Recent market activity shows a sharp decline in trading momentum, suggesting a slowdown in investor sentiment or lower market volatility.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726FF3F-A3A1-5618-9DFA-6904A1942E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808" y="2483059"/>
            <a:ext cx="9193214" cy="1318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5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E0457-62FE-BF41-CACF-83197B2C1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22E2D0C-1E15-B234-F862-9DBB0F43E62F}"/>
              </a:ext>
            </a:extLst>
          </p:cNvPr>
          <p:cNvSpPr/>
          <p:nvPr/>
        </p:nvSpPr>
        <p:spPr>
          <a:xfrm>
            <a:off x="2259558" y="45984"/>
            <a:ext cx="9754254" cy="6812016"/>
          </a:xfrm>
          <a:prstGeom prst="roundRect">
            <a:avLst>
              <a:gd name="adj" fmla="val 2103"/>
            </a:avLst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accent2"/>
              </a:solidFill>
              <a:latin typeface="Tim.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677D0D-9BBB-FE3C-1E65-A03A221BE540}"/>
              </a:ext>
            </a:extLst>
          </p:cNvPr>
          <p:cNvSpPr/>
          <p:nvPr/>
        </p:nvSpPr>
        <p:spPr>
          <a:xfrm>
            <a:off x="113875" y="710747"/>
            <a:ext cx="1916093" cy="4234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pPr algn="ctr">
              <a:spcBef>
                <a:spcPct val="0"/>
              </a:spcBef>
            </a:pPr>
            <a:endParaRPr lang="en-US" sz="5400" b="1"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A38EBB-EB4F-18FE-6766-150A32C28533}"/>
              </a:ext>
            </a:extLst>
          </p:cNvPr>
          <p:cNvSpPr txBox="1"/>
          <p:nvPr/>
        </p:nvSpPr>
        <p:spPr>
          <a:xfrm>
            <a:off x="217793" y="830578"/>
            <a:ext cx="2125061" cy="4234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1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7A7296-2823-5110-00A5-EA901E5FC8DD}"/>
              </a:ext>
            </a:extLst>
          </p:cNvPr>
          <p:cNvSpPr txBox="1"/>
          <p:nvPr/>
        </p:nvSpPr>
        <p:spPr>
          <a:xfrm>
            <a:off x="113875" y="214322"/>
            <a:ext cx="17308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Nine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B27C03-16FA-2315-397D-C7369C695B76}"/>
              </a:ext>
            </a:extLst>
          </p:cNvPr>
          <p:cNvSpPr txBox="1"/>
          <p:nvPr/>
        </p:nvSpPr>
        <p:spPr>
          <a:xfrm>
            <a:off x="2398757" y="224546"/>
            <a:ext cx="4431811" cy="2756011"/>
          </a:xfrm>
          <a:prstGeom prst="rect">
            <a:avLst/>
          </a:prstGeom>
          <a:noFill/>
          <a:ln w="28575">
            <a:solidFill>
              <a:sysClr val="window" lastClr="FFFFFF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defRPr sz="1400" b="0" kern="1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lvl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defRPr sz="1400" kern="1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marL="171450" lvl="1" indent="-171450">
              <a:buFont typeface="Arial" panose="020B0604020202020204" pitchFamily="34" charset="0"/>
              <a:buChar char="•"/>
              <a:defRPr/>
            </a:pPr>
            <a:r>
              <a:rPr lang="en-GB" sz="1200" dirty="0"/>
              <a:t>3️⃣ </a:t>
            </a:r>
            <a:r>
              <a:rPr kumimoji="0" lang="en-US" sz="1200" b="0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LDSS % by Year (Low Daily Share Sales % Trend)</a:t>
            </a:r>
          </a:p>
          <a:p>
            <a:pPr marL="171450" marR="0" lvl="1" indent="-171450" defTabSz="914400" eaLnBrk="1" fontAlgn="auto" latinLnBrk="0" hangingPunct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chemeClr val="accent2"/>
                </a:solidFill>
              </a:rPr>
              <a:t>The</a:t>
            </a:r>
            <a:r>
              <a:rPr kumimoji="0" lang="en-US" sz="1200" b="0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percentages (LDSS %) spiked sharply around 2005 – 2010, peaking at 10.3 %, before falling back below 1 %.</a:t>
            </a:r>
          </a:p>
          <a:p>
            <a:pPr marL="171450" marR="0" lvl="1" indent="-171450" defTabSz="914400" eaLnBrk="1" fontAlgn="auto" latinLnBrk="0" hangingPunct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📊 Insight:</a:t>
            </a:r>
          </a:p>
          <a:p>
            <a:pPr marR="0" lvl="1" defTabSz="914400" eaLnBrk="1" fontAlgn="auto" latinLnBrk="0" hangingPunct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tabLst/>
              <a:defRPr/>
            </a:pPr>
            <a:r>
              <a:rPr kumimoji="0" lang="en-US" sz="1200" b="0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There was a high-volatility or crisis period (perhaps related to an economic downturn or market correction) around 2005 – 2010, followed by a more stable era.</a:t>
            </a:r>
          </a:p>
          <a:p>
            <a:pPr marR="0" lvl="1" defTabSz="914400" eaLnBrk="1" fontAlgn="auto" latinLnBrk="0" hangingPunct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tabLst/>
              <a:defRPr/>
            </a:pPr>
            <a:endParaRPr lang="en-US" sz="1200" dirty="0">
              <a:solidFill>
                <a:schemeClr val="accent2"/>
              </a:solidFill>
            </a:endParaRPr>
          </a:p>
          <a:p>
            <a:pPr marR="0" lvl="1" defTabSz="914400" eaLnBrk="1" fontAlgn="auto" latinLnBrk="0" hangingPunct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tabLst/>
              <a:defRPr/>
            </a:pPr>
            <a:endParaRPr kumimoji="0" lang="en-US" sz="1200" b="0" i="0" u="none" strike="noStrike" kern="1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212228-DEFA-E39C-5285-74A21DCD54F3}"/>
              </a:ext>
            </a:extLst>
          </p:cNvPr>
          <p:cNvSpPr txBox="1"/>
          <p:nvPr/>
        </p:nvSpPr>
        <p:spPr>
          <a:xfrm>
            <a:off x="2508508" y="3593592"/>
            <a:ext cx="4129013" cy="2756011"/>
          </a:xfrm>
          <a:prstGeom prst="rect">
            <a:avLst/>
          </a:prstGeom>
          <a:noFill/>
          <a:ln w="28575">
            <a:solidFill>
              <a:sysClr val="window" lastClr="FFFFFF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defRPr sz="1400" b="0" kern="1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lvl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defRPr sz="1400" kern="1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marL="171450" marR="0" lvl="1" indent="-171450" defTabSz="914400" eaLnBrk="1" fontAlgn="auto" latinLnBrk="0" hangingPunct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4️⃣ Average Volume by Day (Pie Chart)</a:t>
            </a:r>
          </a:p>
          <a:p>
            <a:pPr marL="171450" marR="0" lvl="1" indent="-171450" defTabSz="914400" eaLnBrk="1" fontAlgn="auto" latinLnBrk="0" hangingPunct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The daily average volumes are balanced, each day contributing roughly 10 – 11 % of total trades.</a:t>
            </a:r>
          </a:p>
          <a:p>
            <a:pPr marL="171450" marR="0" lvl="1" indent="-171450" defTabSz="914400" eaLnBrk="1" fontAlgn="auto" latinLnBrk="0" hangingPunct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📊 Insight:</a:t>
            </a:r>
          </a:p>
          <a:p>
            <a:pPr marR="0" lvl="1" defTabSz="914400" eaLnBrk="1" fontAlgn="auto" latinLnBrk="0" hangingPunct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tabLst/>
              <a:defRPr/>
            </a:pPr>
            <a:r>
              <a:rPr kumimoji="0" lang="en-US" sz="1200" b="0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Trading activity is well-distributed across weekdays no major bias toward specific days, indicating consistent market engagement.</a:t>
            </a:r>
          </a:p>
          <a:p>
            <a:pPr marR="0" lvl="1" defTabSz="914400" eaLnBrk="1" fontAlgn="auto" latinLnBrk="0" hangingPunct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tabLst/>
              <a:defRPr/>
            </a:pPr>
            <a:endParaRPr lang="en-US" sz="1200" dirty="0">
              <a:solidFill>
                <a:schemeClr val="accent2"/>
              </a:solidFill>
            </a:endParaRPr>
          </a:p>
          <a:p>
            <a:pPr marR="0" lvl="1" defTabSz="914400" eaLnBrk="1" fontAlgn="auto" latinLnBrk="0" hangingPunct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tabLst/>
              <a:defRPr/>
            </a:pPr>
            <a:endParaRPr kumimoji="0" lang="en-US" sz="1200" b="0" i="0" u="none" strike="noStrike" kern="1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5CA92C-76D1-3520-0864-4C1A2622F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471" y="224546"/>
            <a:ext cx="4991585" cy="27560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B1F118-0C04-45D0-FF9D-5EDC9392C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470" y="3575304"/>
            <a:ext cx="4991585" cy="277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103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B6B2F-128A-7BA7-DA78-F4085E3B4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8D6A19D-0B6E-9729-91CF-1FCAE14B6403}"/>
              </a:ext>
            </a:extLst>
          </p:cNvPr>
          <p:cNvSpPr/>
          <p:nvPr/>
        </p:nvSpPr>
        <p:spPr>
          <a:xfrm>
            <a:off x="2259558" y="45984"/>
            <a:ext cx="9754254" cy="6812016"/>
          </a:xfrm>
          <a:prstGeom prst="roundRect">
            <a:avLst>
              <a:gd name="adj" fmla="val 2103"/>
            </a:avLst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accent2"/>
              </a:solidFill>
              <a:latin typeface="Tim.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ACD2D5-F326-A9C7-2692-9544054DCE34}"/>
              </a:ext>
            </a:extLst>
          </p:cNvPr>
          <p:cNvSpPr/>
          <p:nvPr/>
        </p:nvSpPr>
        <p:spPr>
          <a:xfrm>
            <a:off x="113875" y="710747"/>
            <a:ext cx="1916093" cy="4234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pPr algn="ctr">
              <a:spcBef>
                <a:spcPct val="0"/>
              </a:spcBef>
            </a:pPr>
            <a:endParaRPr lang="en-US" sz="5400" b="1"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5EB706-3DF9-BAB3-F96B-FF86928B7D25}"/>
              </a:ext>
            </a:extLst>
          </p:cNvPr>
          <p:cNvSpPr txBox="1"/>
          <p:nvPr/>
        </p:nvSpPr>
        <p:spPr>
          <a:xfrm>
            <a:off x="178188" y="785295"/>
            <a:ext cx="2125061" cy="4234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1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39C006-B86A-90CD-5302-A81766F3AB8A}"/>
              </a:ext>
            </a:extLst>
          </p:cNvPr>
          <p:cNvSpPr txBox="1"/>
          <p:nvPr/>
        </p:nvSpPr>
        <p:spPr>
          <a:xfrm>
            <a:off x="113875" y="214322"/>
            <a:ext cx="17308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Nine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BA2567-6090-A3F2-BE32-CB515233B3C7}"/>
              </a:ext>
            </a:extLst>
          </p:cNvPr>
          <p:cNvSpPr txBox="1"/>
          <p:nvPr/>
        </p:nvSpPr>
        <p:spPr>
          <a:xfrm>
            <a:off x="2444832" y="214322"/>
            <a:ext cx="4791457" cy="3605474"/>
          </a:xfrm>
          <a:prstGeom prst="rect">
            <a:avLst/>
          </a:prstGeom>
          <a:noFill/>
          <a:ln w="28575">
            <a:solidFill>
              <a:sysClr val="window" lastClr="FFFFFF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defRPr sz="1400" b="0" kern="1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0" lvl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defRPr sz="1400" kern="1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</a:lstStyle>
          <a:p>
            <a:pPr marL="171450" marR="0" lvl="1" indent="-171450" defTabSz="914400" eaLnBrk="1" fontAlgn="auto" latinLnBrk="0" hangingPunct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5️⃣ HDSS % and LDSS % by Day (Tree maps)</a:t>
            </a:r>
          </a:p>
          <a:p>
            <a:pPr marL="171450" marR="0" lvl="1" indent="-171450" defTabSz="914400" eaLnBrk="1" fontAlgn="auto" latinLnBrk="0" hangingPunct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Each block (day) represents percentage of high or low day stock sessions. The color and size show which days experience more highs (HDSS %) or lows (LDSS %).Days like 25, 30, 31 seem more active in losses or highs, while mid-month days are steadier.</a:t>
            </a:r>
          </a:p>
          <a:p>
            <a:pPr marL="171450" marR="0" lvl="1" indent="-171450" defTabSz="914400" eaLnBrk="1" fontAlgn="auto" latinLnBrk="0" hangingPunct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📊 Insight:</a:t>
            </a:r>
          </a:p>
          <a:p>
            <a:pPr marR="0" lvl="1" defTabSz="914400" eaLnBrk="1" fontAlgn="auto" latinLnBrk="0" hangingPunct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tabLst/>
              <a:defRPr/>
            </a:pPr>
            <a:r>
              <a:rPr kumimoji="0" lang="en-US" sz="1200" b="0" i="0" u="none" strike="noStrike" kern="1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End-of-month days show greater volatility, possibly due to portfolio rebalancing or reporting effects. Early-month days are relatively calm.</a:t>
            </a:r>
          </a:p>
          <a:p>
            <a:pPr marR="0" lvl="1" defTabSz="914400" eaLnBrk="1" fontAlgn="auto" latinLnBrk="0" hangingPunct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tabLst/>
              <a:defRPr/>
            </a:pPr>
            <a:r>
              <a:rPr lang="en-US" sz="1200" dirty="0">
                <a:solidFill>
                  <a:schemeClr val="accent2"/>
                </a:solidFill>
              </a:rPr>
              <a:t>NB: Tree map breaks data into rectangular blocks —each block’s size represents a numeric value and each block’s label (like 31, 25, 30, etc.) represents the Day of the month.</a:t>
            </a:r>
          </a:p>
          <a:p>
            <a:pPr marR="0" lvl="1" defTabSz="914400" eaLnBrk="1" fontAlgn="auto" latinLnBrk="0" hangingPunct="1"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tabLst/>
              <a:defRPr/>
            </a:pPr>
            <a:r>
              <a:rPr lang="en-US" sz="1200" dirty="0">
                <a:solidFill>
                  <a:schemeClr val="accent2"/>
                </a:solidFill>
              </a:rPr>
              <a:t>Larger rectangles = higher loss percentage (Higer losses).Smaller rectangles = lower loss percentage (Lower).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16CCD4-AE6F-B29E-0FEA-AFB062688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664" y="214321"/>
            <a:ext cx="4608773" cy="360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177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82BF2-07E5-3AC4-DCD6-B6EE4B1F0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51B1B08-5092-7247-0C37-0FE7E4F7D420}"/>
              </a:ext>
            </a:extLst>
          </p:cNvPr>
          <p:cNvSpPr/>
          <p:nvPr/>
        </p:nvSpPr>
        <p:spPr>
          <a:xfrm>
            <a:off x="2259558" y="45984"/>
            <a:ext cx="9754254" cy="6812016"/>
          </a:xfrm>
          <a:prstGeom prst="roundRect">
            <a:avLst>
              <a:gd name="adj" fmla="val 2103"/>
            </a:avLst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accent2"/>
              </a:solidFill>
              <a:latin typeface="Tim.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E4132B-96B3-3C92-222C-AABD1B2968CD}"/>
              </a:ext>
            </a:extLst>
          </p:cNvPr>
          <p:cNvSpPr/>
          <p:nvPr/>
        </p:nvSpPr>
        <p:spPr>
          <a:xfrm>
            <a:off x="113875" y="710747"/>
            <a:ext cx="1916093" cy="4234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pPr algn="ctr">
              <a:spcBef>
                <a:spcPct val="0"/>
              </a:spcBef>
            </a:pPr>
            <a:endParaRPr lang="en-US" sz="5400" b="1"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E5EE64-062D-8284-DC20-540A98BA4DCB}"/>
              </a:ext>
            </a:extLst>
          </p:cNvPr>
          <p:cNvSpPr txBox="1"/>
          <p:nvPr/>
        </p:nvSpPr>
        <p:spPr>
          <a:xfrm>
            <a:off x="319771" y="785295"/>
            <a:ext cx="2125061" cy="4234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1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181991-4D3D-2964-9A2D-B6931927DF35}"/>
              </a:ext>
            </a:extLst>
          </p:cNvPr>
          <p:cNvSpPr txBox="1"/>
          <p:nvPr/>
        </p:nvSpPr>
        <p:spPr>
          <a:xfrm>
            <a:off x="113875" y="214322"/>
            <a:ext cx="17308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Nine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07E8E3-ADAB-8999-C724-5AB47BE3D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296" y="214322"/>
            <a:ext cx="9645516" cy="647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932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AC214-AF7C-7FE6-8DE8-243394F45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F2CD898-AC41-C3B7-ADD9-AD6AC0920693}"/>
              </a:ext>
            </a:extLst>
          </p:cNvPr>
          <p:cNvSpPr/>
          <p:nvPr/>
        </p:nvSpPr>
        <p:spPr>
          <a:xfrm>
            <a:off x="2020824" y="-48205"/>
            <a:ext cx="10093099" cy="6707344"/>
          </a:xfrm>
          <a:prstGeom prst="roundRect">
            <a:avLst>
              <a:gd name="adj" fmla="val 1558"/>
            </a:avLst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accent2"/>
              </a:solidFill>
              <a:latin typeface="Tim.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EBA26D-7838-B738-5CD1-49D6119BE0B1}"/>
              </a:ext>
            </a:extLst>
          </p:cNvPr>
          <p:cNvSpPr/>
          <p:nvPr/>
        </p:nvSpPr>
        <p:spPr>
          <a:xfrm>
            <a:off x="78077" y="710747"/>
            <a:ext cx="1730819" cy="4234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pPr algn="ctr">
              <a:spcBef>
                <a:spcPct val="0"/>
              </a:spcBef>
            </a:pPr>
            <a:endParaRPr lang="en-US" sz="5400" b="1"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46DEDB-5D75-BE16-EE84-F757EA5DAC08}"/>
              </a:ext>
            </a:extLst>
          </p:cNvPr>
          <p:cNvSpPr txBox="1"/>
          <p:nvPr/>
        </p:nvSpPr>
        <p:spPr>
          <a:xfrm>
            <a:off x="113875" y="846181"/>
            <a:ext cx="2009969" cy="4084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b="1">
                <a:solidFill>
                  <a:schemeClr val="accent2"/>
                </a:solidFill>
                <a:latin typeface="Tim.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209F88-0769-7261-BF04-AF0D39431DE5}"/>
              </a:ext>
            </a:extLst>
          </p:cNvPr>
          <p:cNvSpPr txBox="1"/>
          <p:nvPr/>
        </p:nvSpPr>
        <p:spPr>
          <a:xfrm>
            <a:off x="113875" y="214322"/>
            <a:ext cx="17308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Nine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7F69CF-D395-6B6B-AED8-1EB5FEDAB01A}"/>
              </a:ext>
            </a:extLst>
          </p:cNvPr>
          <p:cNvSpPr txBox="1"/>
          <p:nvPr/>
        </p:nvSpPr>
        <p:spPr>
          <a:xfrm>
            <a:off x="2123844" y="29656"/>
            <a:ext cx="2106822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b="1">
                <a:latin typeface="Tim.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1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Daily Patterns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4AD363-6970-86BF-E947-9622D9493FCA}"/>
              </a:ext>
            </a:extLst>
          </p:cNvPr>
          <p:cNvSpPr txBox="1"/>
          <p:nvPr/>
        </p:nvSpPr>
        <p:spPr>
          <a:xfrm>
            <a:off x="2121853" y="552876"/>
            <a:ext cx="3817880" cy="89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Daily Volume: Spread evenly across the week each day contributes about 10–11% of total trading activity.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B1BBD8-A635-DC46-1799-7FDA345AB0DE}"/>
              </a:ext>
            </a:extLst>
          </p:cNvPr>
          <p:cNvSpPr txBox="1"/>
          <p:nvPr/>
        </p:nvSpPr>
        <p:spPr>
          <a:xfrm>
            <a:off x="7838844" y="0"/>
            <a:ext cx="2896212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b="1">
                <a:latin typeface="Tim.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16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 and Volatility Trends</a:t>
            </a:r>
            <a:endParaRPr lang="en-GB" sz="1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9900D4-8C17-B54C-112D-BDD8E612A8E7}"/>
              </a:ext>
            </a:extLst>
          </p:cNvPr>
          <p:cNvSpPr txBox="1"/>
          <p:nvPr/>
        </p:nvSpPr>
        <p:spPr>
          <a:xfrm>
            <a:off x="2259832" y="1996989"/>
            <a:ext cx="2106822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b="1">
                <a:latin typeface="Tim.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16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Daily Patterns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C78CB8-E513-22A9-94FB-C74B4867EAF6}"/>
              </a:ext>
            </a:extLst>
          </p:cNvPr>
          <p:cNvSpPr txBox="1"/>
          <p:nvPr/>
        </p:nvSpPr>
        <p:spPr>
          <a:xfrm>
            <a:off x="7181090" y="552876"/>
            <a:ext cx="3817880" cy="1444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 Growth: The total trading volume shows a steady rise from the 1980s, reaching a peak around 2010.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Post-2010: Volumes remain strong but more stable a sign of market maturity and less speculation.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B475EEC-F086-8536-BF4F-5E4BB8FE4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341364"/>
              </p:ext>
            </p:extLst>
          </p:nvPr>
        </p:nvGraphicFramePr>
        <p:xfrm>
          <a:off x="2121853" y="2481775"/>
          <a:ext cx="4873308" cy="3326959"/>
        </p:xfrm>
        <a:graphic>
          <a:graphicData uri="http://schemas.openxmlformats.org/drawingml/2006/table">
            <a:tbl>
              <a:tblPr/>
              <a:tblGrid>
                <a:gridCol w="1624436">
                  <a:extLst>
                    <a:ext uri="{9D8B030D-6E8A-4147-A177-3AD203B41FA5}">
                      <a16:colId xmlns:a16="http://schemas.microsoft.com/office/drawing/2014/main" val="4068662245"/>
                    </a:ext>
                  </a:extLst>
                </a:gridCol>
                <a:gridCol w="1624436">
                  <a:extLst>
                    <a:ext uri="{9D8B030D-6E8A-4147-A177-3AD203B41FA5}">
                      <a16:colId xmlns:a16="http://schemas.microsoft.com/office/drawing/2014/main" val="3339658334"/>
                    </a:ext>
                  </a:extLst>
                </a:gridCol>
                <a:gridCol w="1624436">
                  <a:extLst>
                    <a:ext uri="{9D8B030D-6E8A-4147-A177-3AD203B41FA5}">
                      <a16:colId xmlns:a16="http://schemas.microsoft.com/office/drawing/2014/main" val="3555922097"/>
                    </a:ext>
                  </a:extLst>
                </a:gridCol>
              </a:tblGrid>
              <a:tr h="216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8353770"/>
                  </a:ext>
                </a:extLst>
              </a:tr>
              <a:tr h="4968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Liquidity</a:t>
                      </a:r>
                      <a:endParaRPr lang="en-GB" sz="1000" dirty="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28T total volume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Highly active market, strong investor presence.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94201"/>
                  </a:ext>
                </a:extLst>
              </a:tr>
              <a:tr h="5805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Volatility</a:t>
                      </a:r>
                      <a:endParaRPr lang="en-GB" sz="100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LDSS 1.6%, HDSS 1.7%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Balanced gain–loss distribution → stable market environment.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805107"/>
                  </a:ext>
                </a:extLst>
              </a:tr>
              <a:tr h="781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Momentum</a:t>
                      </a:r>
                      <a:endParaRPr lang="en-GB" sz="100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-58% MoM change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Recent slowdown in trading; possible seasonal or sentiment-driven.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766816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Long-term trend</a:t>
                      </a:r>
                      <a:endParaRPr lang="en-GB" sz="100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Volume peaked 2010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Suggests digitalization and market maturity after expansion.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90116"/>
                  </a:ext>
                </a:extLst>
              </a:tr>
              <a:tr h="602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b="1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 pattern</a:t>
                      </a:r>
                      <a:endParaRPr lang="en-GB" sz="1000">
                        <a:solidFill>
                          <a:schemeClr val="accent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End-month volatility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000" dirty="0">
                          <a:solidFill>
                            <a:schemeClr val="accent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Indicates cyclical trading pressures.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189809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B7D173F1-6944-3C2C-FAB2-E5C163DDCF0F}"/>
              </a:ext>
            </a:extLst>
          </p:cNvPr>
          <p:cNvSpPr txBox="1"/>
          <p:nvPr/>
        </p:nvSpPr>
        <p:spPr>
          <a:xfrm>
            <a:off x="7578592" y="1996989"/>
            <a:ext cx="2106822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b="1">
                <a:latin typeface="Tim.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16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of Insights</a:t>
            </a:r>
            <a:endParaRPr lang="en-GB" sz="1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95C812-4757-CD92-B7E8-C33A0D1CEA5A}"/>
              </a:ext>
            </a:extLst>
          </p:cNvPr>
          <p:cNvSpPr txBox="1"/>
          <p:nvPr/>
        </p:nvSpPr>
        <p:spPr>
          <a:xfrm>
            <a:off x="7296914" y="2481775"/>
            <a:ext cx="3817880" cy="2552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liquidity remains high with 28T in total volume.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Volatility is moderate and balanced between gain and loss sessions.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The market shows signs of stabilization post-2010, after an intense growth and correction phase.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Month-on-month activity dropped sharply (-58%), signaling short-term investor caution.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End-of-month days exhibit the highest volatility, consistent with institutional trading patterns.</a:t>
            </a:r>
          </a:p>
        </p:txBody>
      </p:sp>
    </p:spTree>
    <p:extLst>
      <p:ext uri="{BB962C8B-B14F-4D97-AF65-F5344CB8AC3E}">
        <p14:creationId xmlns:p14="http://schemas.microsoft.com/office/powerpoint/2010/main" val="2729877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DEF63-FD41-B527-C5A9-426FA51D9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CF04C7B-A865-1757-27BE-407568F84AA4}"/>
              </a:ext>
            </a:extLst>
          </p:cNvPr>
          <p:cNvSpPr/>
          <p:nvPr/>
        </p:nvSpPr>
        <p:spPr>
          <a:xfrm>
            <a:off x="2020824" y="-48205"/>
            <a:ext cx="10093099" cy="6707344"/>
          </a:xfrm>
          <a:prstGeom prst="roundRect">
            <a:avLst>
              <a:gd name="adj" fmla="val 1558"/>
            </a:avLst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accent2"/>
              </a:solidFill>
              <a:latin typeface="Tim.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513052-9322-4F03-55F5-BEF9ED017FFC}"/>
              </a:ext>
            </a:extLst>
          </p:cNvPr>
          <p:cNvSpPr/>
          <p:nvPr/>
        </p:nvSpPr>
        <p:spPr>
          <a:xfrm>
            <a:off x="78077" y="710747"/>
            <a:ext cx="1730819" cy="4234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pPr algn="ctr">
              <a:spcBef>
                <a:spcPct val="0"/>
              </a:spcBef>
            </a:pPr>
            <a:endParaRPr lang="en-US" sz="5400" b="1"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ABE2BE-BA9E-255D-EF70-EDF926F1DA03}"/>
              </a:ext>
            </a:extLst>
          </p:cNvPr>
          <p:cNvSpPr txBox="1"/>
          <p:nvPr/>
        </p:nvSpPr>
        <p:spPr>
          <a:xfrm>
            <a:off x="113875" y="846181"/>
            <a:ext cx="2009969" cy="4084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b="1">
                <a:solidFill>
                  <a:schemeClr val="accent2"/>
                </a:solidFill>
                <a:latin typeface="Tim.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5611A4-1FF8-2B36-6264-5A315628BC71}"/>
              </a:ext>
            </a:extLst>
          </p:cNvPr>
          <p:cNvSpPr txBox="1"/>
          <p:nvPr/>
        </p:nvSpPr>
        <p:spPr>
          <a:xfrm>
            <a:off x="113875" y="214322"/>
            <a:ext cx="17308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Nine</a:t>
            </a:r>
            <a:endParaRPr lang="en-GB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C44E5A-6C90-EF5A-04E9-7EA1E6B94178}"/>
              </a:ext>
            </a:extLst>
          </p:cNvPr>
          <p:cNvSpPr txBox="1"/>
          <p:nvPr/>
        </p:nvSpPr>
        <p:spPr>
          <a:xfrm>
            <a:off x="2123844" y="29656"/>
            <a:ext cx="2106822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b="1">
                <a:latin typeface="Tim.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16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GB" sz="1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B53340-DAEB-5661-6FE4-1AE18012A877}"/>
              </a:ext>
            </a:extLst>
          </p:cNvPr>
          <p:cNvSpPr txBox="1"/>
          <p:nvPr/>
        </p:nvSpPr>
        <p:spPr>
          <a:xfrm>
            <a:off x="2121852" y="552876"/>
            <a:ext cx="4324667" cy="2829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End-of-Month Trading Behavior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repeating volatility patterns for better timing of trades.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 Predictive </a:t>
            </a:r>
            <a:r>
              <a:rPr lang="en-US" sz="12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ModelsApply</a:t>
            </a:r>
            <a:r>
              <a:rPr lang="en-US" sz="1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moving averages, RSI, and Bollinger Bands to assess long-term momentum.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Track Investor Sentiment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MoM volume trends and loss frequency to gauge investor confidence.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Diversify During High-Volatility Periods</a:t>
            </a:r>
          </a:p>
          <a:p>
            <a:pPr algn="just">
              <a:lnSpc>
                <a:spcPct val="150000"/>
              </a:lnSpc>
            </a:pPr>
            <a:r>
              <a:rPr lang="en-US" sz="1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Encourage balanced portfolios to minimize exposure during unstable cycles.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AA3186-B66E-B82D-5837-D1EB19ECFA01}"/>
              </a:ext>
            </a:extLst>
          </p:cNvPr>
          <p:cNvSpPr txBox="1"/>
          <p:nvPr/>
        </p:nvSpPr>
        <p:spPr>
          <a:xfrm>
            <a:off x="7838844" y="0"/>
            <a:ext cx="2896212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b="1">
                <a:latin typeface="Tim.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GB" sz="16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GB" sz="1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E2D0B1-264F-4D38-C491-5886B0C3C08D}"/>
              </a:ext>
            </a:extLst>
          </p:cNvPr>
          <p:cNvSpPr txBox="1"/>
          <p:nvPr/>
        </p:nvSpPr>
        <p:spPr>
          <a:xfrm>
            <a:off x="7181090" y="552876"/>
            <a:ext cx="4760974" cy="1721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Stock Market dashboard reveals a mature yet dynamic market with strong liquidity, moderate volatility, and cyclical trading behavior. While the short-term decline in volume suggests cautious sentiment, long-term stability remains evident. Continuous monitoring of end-of-month patterns and volume shifts will help maintain strategic market insights.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9E7961-48B0-44E2-BFD9-E836A78F21CC}"/>
              </a:ext>
            </a:extLst>
          </p:cNvPr>
          <p:cNvSpPr txBox="1"/>
          <p:nvPr/>
        </p:nvSpPr>
        <p:spPr>
          <a:xfrm>
            <a:off x="5070934" y="2951061"/>
            <a:ext cx="4760974" cy="2696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6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  <a:p>
            <a:pPr algn="ctr">
              <a:lnSpc>
                <a:spcPct val="150000"/>
              </a:lnSpc>
            </a:pPr>
            <a:r>
              <a:rPr lang="en-US" sz="6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987327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3070</TotalTime>
  <Words>1325</Words>
  <Application>Microsoft Office PowerPoint</Application>
  <PresentationFormat>Widescreen</PresentationFormat>
  <Paragraphs>163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Bierstadt</vt:lpstr>
      <vt:lpstr>Tim.</vt:lpstr>
      <vt:lpstr>Times New Roman</vt:lpstr>
      <vt:lpstr>Office Theme</vt:lpstr>
      <vt:lpstr>Stock Market Investment Analysis </vt:lpstr>
      <vt:lpstr>Table of Content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Alfred Akortsu</dc:creator>
  <cp:lastModifiedBy>Alfred Akortsu</cp:lastModifiedBy>
  <cp:revision>5</cp:revision>
  <dcterms:created xsi:type="dcterms:W3CDTF">2025-10-28T15:20:28Z</dcterms:created>
  <dcterms:modified xsi:type="dcterms:W3CDTF">2025-10-30T18:30:29Z</dcterms:modified>
</cp:coreProperties>
</file>